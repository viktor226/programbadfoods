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6" r:id="rId12"/>
    <p:sldId id="264" r:id="rId13"/>
    <p:sldId id="265" r:id="rId14"/>
    <p:sldId id="269" r:id="rId15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72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17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FoodGuard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37345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Анализатор на вредни съставки в храни 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317271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Уеб приложение, което разпознава текст от етикети чрез OCR и автоматично открива вредни добавки, консерванти, подсладители и алергени — директно в браузъра.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790578"/>
            <a:ext cx="2091779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74" y="3867076"/>
            <a:ext cx="113407" cy="1134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1284" y="3833068"/>
            <a:ext cx="220875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БЕЗПЛАТЕН &amp; С ОТВОРЕН КОД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658740" y="3785815"/>
            <a:ext cx="145873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8558" y="3867076"/>
            <a:ext cx="113407" cy="1134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18668" y="3833068"/>
            <a:ext cx="15661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РАБОТИ В БРАУЗЪР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188321" y="3785815"/>
            <a:ext cx="189383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8139" y="3867076"/>
            <a:ext cx="113407" cy="1134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48249" y="3833068"/>
            <a:ext cx="200129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БЪЛГАРСКИ &amp; АНГЛИЙСКИ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2822"/>
            <a:ext cx="48941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Какво прави FoodGuard?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08410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54931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471836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2196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Качване на снимка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28478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Потребителят качва снимка на етикет от храна, напитка или козметичен продукт.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08410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54931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471836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2196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 разпознаване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28478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Tesseract OCR извлича автоматично текста от изображението с поддръжка на два езика.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2970386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1690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233812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683943"/>
            <a:ext cx="24348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на съставките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3990454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Търсене на вредни вещества в 15+ категории — Е-номера, алергени, консерванти и др.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2970386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1690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233812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68394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Цветни резултати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3990454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Визуални индикатори: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зелено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 безопасно,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червено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 вредно. Възможност за CSV експорт.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294308"/>
            <a:ext cx="6292155" cy="4554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Технологичен стек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Приложението е изградено с Python 3.11 и използва утвърдени библиотеки за обработка на изображения, OCR и визуализация на данни.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6392" y="150978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библиотеки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06392" y="1755577"/>
            <a:ext cx="3538463" cy="1358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уеб интерфейс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Pytesseract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OCR разпознаване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(opencv-python-headless) — обработка на изображения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Pillow (PIL)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работа със снимки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обработка на данни и таблици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числени операции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 (regex)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търсене на Е-номера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706392" y="3193331"/>
            <a:ext cx="20496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Системни зависимости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706392" y="3439120"/>
            <a:ext cx="3538463" cy="325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Tesseract OCR двигател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tesseract-ocr, tesseract-ocr-bul, tesseract-ocr-eng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706392" y="3844379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Разполагане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06392" y="4090169"/>
            <a:ext cx="3538463" cy="325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съхранение на код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Cloud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хостване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601749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Архитектура на приложението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492" y="1902191"/>
            <a:ext cx="407583" cy="4075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27761" y="3390124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Резултати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7357" y="1902956"/>
            <a:ext cx="407583" cy="4075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27856" y="3390124"/>
            <a:ext cx="14187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5603" y="1902956"/>
            <a:ext cx="407583" cy="4075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036102" y="3390124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5697" y="1902956"/>
            <a:ext cx="407583" cy="40758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511741" y="3390124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Качване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Приложението следва линейна архитектура с четири последователни стъпки — от качване на снимка до визуализация на резултатите. Цялата обработка се извършва сървърно, без инсталация от страна на потребителя.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9185FA6-6413-85AD-6EE8-0D172131DB5E}"/>
              </a:ext>
            </a:extLst>
          </p:cNvPr>
          <p:cNvSpPr/>
          <p:nvPr/>
        </p:nvSpPr>
        <p:spPr>
          <a:xfrm>
            <a:off x="58784" y="1014116"/>
            <a:ext cx="5897764" cy="3039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45219" y="339626"/>
            <a:ext cx="5464969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Стъпки 1–2: От снимка към текст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6004396" y="978247"/>
            <a:ext cx="620241" cy="212824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6076131" y="1014115"/>
            <a:ext cx="93397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СТЪПКА 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004396" y="1231404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Качване на снимка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04396" y="1519163"/>
            <a:ext cx="2698998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Потребителят избира снимка на етикет чрез вградения file uploader в Streamlit. Поддържат се стандартни формати (PNG, JPG).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04396" y="2367930"/>
            <a:ext cx="2698998" cy="8930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004396" y="2520181"/>
            <a:ext cx="639663" cy="212824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</p:sp>
      <p:sp>
        <p:nvSpPr>
          <p:cNvPr id="10" name="Text 7"/>
          <p:cNvSpPr/>
          <p:nvPr/>
        </p:nvSpPr>
        <p:spPr>
          <a:xfrm>
            <a:off x="6076131" y="2556049"/>
            <a:ext cx="953393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СТЪПКА 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004396" y="277333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 разпознаване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04396" y="3061097"/>
            <a:ext cx="2698998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Tesseract OCR обработва изображението с OpenCV предварителна обработка и извлича текста. Поддържа </a:t>
            </a: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български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английски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език едновременно.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04396" y="3880024"/>
            <a:ext cx="2698998" cy="810369"/>
          </a:xfrm>
          <a:prstGeom prst="roundRect">
            <a:avLst>
              <a:gd name="adj" fmla="val 6200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980" y="4053334"/>
            <a:ext cx="149498" cy="11958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93061" y="4010769"/>
            <a:ext cx="219075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Разпознаването работи най-добре при ясни, добре осветени снимки с четлив шрифт.</a:t>
            </a:r>
            <a:endParaRPr lang="en-US" sz="9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8D3B72B-F012-0EE2-6FFF-D8724E016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5" y="1155204"/>
            <a:ext cx="5769838" cy="2724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349" y="400124"/>
            <a:ext cx="4800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Стъпка 3: Анализ и резултати</a:t>
            </a:r>
            <a:endParaRPr lang="en-US" sz="2550" dirty="0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A0EC696-1345-4EA2-ECF6-904112F821B9}"/>
              </a:ext>
            </a:extLst>
          </p:cNvPr>
          <p:cNvGrpSpPr/>
          <p:nvPr/>
        </p:nvGrpSpPr>
        <p:grpSpPr>
          <a:xfrm>
            <a:off x="457348" y="935079"/>
            <a:ext cx="8325245" cy="1147086"/>
            <a:chOff x="443061" y="1397571"/>
            <a:chExt cx="4814590" cy="1168822"/>
          </a:xfrm>
        </p:grpSpPr>
        <p:sp>
          <p:nvSpPr>
            <p:cNvPr id="6" name="Shape 2"/>
            <p:cNvSpPr/>
            <p:nvPr/>
          </p:nvSpPr>
          <p:spPr>
            <a:xfrm>
              <a:off x="457349" y="1397571"/>
              <a:ext cx="4800302" cy="1168822"/>
            </a:xfrm>
            <a:prstGeom prst="roundRect">
              <a:avLst>
                <a:gd name="adj" fmla="val 5867"/>
              </a:avLst>
            </a:prstGeom>
            <a:solidFill>
              <a:srgbClr val="FFFFFF"/>
            </a:solidFill>
            <a:ln w="14288">
              <a:solidFill>
                <a:srgbClr val="C0C1D7"/>
              </a:solidFill>
              <a:prstDash val="solid"/>
            </a:ln>
          </p:spPr>
        </p:sp>
        <p:sp>
          <p:nvSpPr>
            <p:cNvPr id="7" name="Shape 3"/>
            <p:cNvSpPr/>
            <p:nvPr/>
          </p:nvSpPr>
          <p:spPr>
            <a:xfrm>
              <a:off x="443061" y="1397571"/>
              <a:ext cx="57150" cy="1168822"/>
            </a:xfrm>
            <a:prstGeom prst="roundRect">
              <a:avLst>
                <a:gd name="adj" fmla="val 96046"/>
              </a:avLst>
            </a:prstGeom>
            <a:solidFill>
              <a:srgbClr val="4950BC"/>
            </a:solidFill>
            <a:ln/>
          </p:spPr>
        </p:sp>
        <p:sp>
          <p:nvSpPr>
            <p:cNvPr id="8" name="Text 4"/>
            <p:cNvSpPr/>
            <p:nvPr/>
          </p:nvSpPr>
          <p:spPr>
            <a:xfrm>
              <a:off x="645170" y="1542529"/>
              <a:ext cx="2127572" cy="2041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🔴</a:t>
              </a:r>
              <a:r>
                <a:rPr lang="en-US" sz="12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Вредни съставки</a:t>
              </a:r>
              <a:endParaRPr lang="en-US" sz="12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645170" y="1818903"/>
              <a:ext cx="4467523" cy="6025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10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Червен индикатор за открити парабени, сулфати, изкуствени подсладители, Е-номера и алергени. Показва точното наименование и категория.</a:t>
              </a:r>
              <a:endParaRPr lang="en-US" sz="1000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5FDD72C-38D2-CC36-4ABA-7F132830B4B9}"/>
              </a:ext>
            </a:extLst>
          </p:cNvPr>
          <p:cNvGrpSpPr/>
          <p:nvPr/>
        </p:nvGrpSpPr>
        <p:grpSpPr>
          <a:xfrm>
            <a:off x="457348" y="2253946"/>
            <a:ext cx="8325244" cy="1168823"/>
            <a:chOff x="443061" y="2686869"/>
            <a:chExt cx="4828877" cy="986321"/>
          </a:xfrm>
        </p:grpSpPr>
        <p:sp>
          <p:nvSpPr>
            <p:cNvPr id="10" name="Shape 6"/>
            <p:cNvSpPr/>
            <p:nvPr/>
          </p:nvSpPr>
          <p:spPr>
            <a:xfrm>
              <a:off x="471636" y="2705212"/>
              <a:ext cx="4800302" cy="967978"/>
            </a:xfrm>
            <a:prstGeom prst="roundRect">
              <a:avLst>
                <a:gd name="adj" fmla="val 7085"/>
              </a:avLst>
            </a:prstGeom>
            <a:solidFill>
              <a:srgbClr val="FFFFFF"/>
            </a:solidFill>
            <a:ln w="14288">
              <a:solidFill>
                <a:srgbClr val="C0C1D7"/>
              </a:solidFill>
              <a:prstDash val="solid"/>
            </a:ln>
          </p:spPr>
        </p:sp>
        <p:sp>
          <p:nvSpPr>
            <p:cNvPr id="11" name="Shape 7"/>
            <p:cNvSpPr/>
            <p:nvPr/>
          </p:nvSpPr>
          <p:spPr>
            <a:xfrm>
              <a:off x="443061" y="2686869"/>
              <a:ext cx="57150" cy="967978"/>
            </a:xfrm>
            <a:prstGeom prst="roundRect">
              <a:avLst>
                <a:gd name="adj" fmla="val 96046"/>
              </a:avLst>
            </a:prstGeom>
            <a:solidFill>
              <a:srgbClr val="4950BC"/>
            </a:solidFill>
            <a:ln/>
          </p:spPr>
        </p:sp>
        <p:sp>
          <p:nvSpPr>
            <p:cNvPr id="12" name="Text 8"/>
            <p:cNvSpPr/>
            <p:nvPr/>
          </p:nvSpPr>
          <p:spPr>
            <a:xfrm>
              <a:off x="645170" y="2831827"/>
              <a:ext cx="2390329" cy="2041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🟢</a:t>
              </a:r>
              <a:r>
                <a:rPr lang="en-US" sz="12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Безопасни съставки</a:t>
              </a:r>
              <a:endParaRPr lang="en-US" sz="125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645170" y="3108201"/>
              <a:ext cx="4467523" cy="4016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10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Зелен индикатор за съставки без установени рискове според базата данни. Продуктът е маркиран като „без открити вредни вещества".</a:t>
              </a:r>
              <a:endParaRPr lang="en-US" sz="1000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4502C4F-BBB6-48EC-CCB0-8F6235DD3401}"/>
              </a:ext>
            </a:extLst>
          </p:cNvPr>
          <p:cNvGrpSpPr/>
          <p:nvPr/>
        </p:nvGrpSpPr>
        <p:grpSpPr>
          <a:xfrm>
            <a:off x="455928" y="3706805"/>
            <a:ext cx="8325245" cy="1147086"/>
            <a:chOff x="443061" y="3775323"/>
            <a:chExt cx="4814590" cy="967978"/>
          </a:xfrm>
        </p:grpSpPr>
        <p:sp>
          <p:nvSpPr>
            <p:cNvPr id="14" name="Shape 10"/>
            <p:cNvSpPr/>
            <p:nvPr/>
          </p:nvSpPr>
          <p:spPr>
            <a:xfrm>
              <a:off x="457349" y="3775323"/>
              <a:ext cx="4800302" cy="967978"/>
            </a:xfrm>
            <a:prstGeom prst="roundRect">
              <a:avLst>
                <a:gd name="adj" fmla="val 7085"/>
              </a:avLst>
            </a:prstGeom>
            <a:solidFill>
              <a:srgbClr val="FFFFFF"/>
            </a:solidFill>
            <a:ln w="14288">
              <a:solidFill>
                <a:srgbClr val="C0C1D7"/>
              </a:solidFill>
              <a:prstDash val="solid"/>
            </a:ln>
          </p:spPr>
        </p:sp>
        <p:sp>
          <p:nvSpPr>
            <p:cNvPr id="15" name="Shape 11"/>
            <p:cNvSpPr/>
            <p:nvPr/>
          </p:nvSpPr>
          <p:spPr>
            <a:xfrm>
              <a:off x="443061" y="3775323"/>
              <a:ext cx="57150" cy="967978"/>
            </a:xfrm>
            <a:prstGeom prst="roundRect">
              <a:avLst>
                <a:gd name="adj" fmla="val 96046"/>
              </a:avLst>
            </a:prstGeom>
            <a:solidFill>
              <a:srgbClr val="4950BC"/>
            </a:solidFill>
            <a:ln/>
          </p:spPr>
        </p:sp>
        <p:sp>
          <p:nvSpPr>
            <p:cNvPr id="16" name="Text 12"/>
            <p:cNvSpPr/>
            <p:nvPr/>
          </p:nvSpPr>
          <p:spPr>
            <a:xfrm>
              <a:off x="645170" y="3920282"/>
              <a:ext cx="2480890" cy="2041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📥</a:t>
              </a:r>
              <a:r>
                <a:rPr lang="en-US" sz="12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Експорт на резултати</a:t>
              </a:r>
              <a:endParaRPr lang="en-US" sz="1250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645170" y="4196655"/>
              <a:ext cx="4467523" cy="4016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10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Всички открити съставки могат да бъдат изтеглени като </a:t>
              </a:r>
              <a:r>
                <a:rPr lang="en-US" sz="100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CSV файл</a:t>
              </a:r>
              <a:r>
                <a:rPr lang="en-US" sz="10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за по-нататъшен анализ или документиране.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52E547-9AD1-D2DB-D975-6B6101277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43"/>
            <a:ext cx="9144000" cy="42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DF3264-CEB8-1864-6884-DD0355B26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853"/>
            <a:ext cx="9144000" cy="422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5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3845"/>
            <a:ext cx="5094015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Категории вредни съставки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53182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FoodGuard разпознава над </a:t>
            </a: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категории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вредни вещества, базирани на данни от EFSA, EU Food Additives и INCI списъка за козметика.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1590377"/>
            <a:ext cx="261342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349" y="2002259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Консерванти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349" y="2278633"/>
            <a:ext cx="44965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Парабени, натриев бензоат (Е211), калиев сорбат (Е202)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233" y="1590377"/>
            <a:ext cx="261342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7233" y="2002259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Подсладители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47233" y="2278633"/>
            <a:ext cx="4496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Аспартам, захарин, ацесулфам, цикламат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349" y="2720429"/>
            <a:ext cx="261342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349" y="3132311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Оцветители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349" y="3408685"/>
            <a:ext cx="44965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Тартразин (Е102), сончев залез (Е110), карамел (Е150d)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233" y="2720429"/>
            <a:ext cx="261342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7233" y="3132311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Алергени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47233" y="3408685"/>
            <a:ext cx="4496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Яйца, фъстъци, ядки, соя, глутен, мляко, целина, сусам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349" y="3850481"/>
            <a:ext cx="261342" cy="2613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349" y="4262363"/>
            <a:ext cx="242054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Емулгатори &amp; Е-номера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57349" y="4538737"/>
            <a:ext cx="44965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Е471, Е475, Е322, Е621, Е500–Е503, Е300–Е524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7233" y="3850481"/>
            <a:ext cx="261342" cy="2613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7233" y="4262363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Антиоксиданти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47233" y="4538737"/>
            <a:ext cx="44966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 (Е320), BHT (Е321), формалдехид, сулфати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440B1F-7054-DADC-1691-6412084C9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115"/>
            <a:ext cx="9144000" cy="407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79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6916D9CA-79AD-0133-D042-562361EB14CA}"/>
              </a:ext>
            </a:extLst>
          </p:cNvPr>
          <p:cNvSpPr/>
          <p:nvPr/>
        </p:nvSpPr>
        <p:spPr>
          <a:xfrm>
            <a:off x="64519" y="710544"/>
            <a:ext cx="4075611" cy="2411479"/>
          </a:xfrm>
          <a:prstGeom prst="roundRect">
            <a:avLst>
              <a:gd name="adj" fmla="val 4166"/>
            </a:avLst>
          </a:prstGeom>
          <a:solidFill>
            <a:srgbClr val="DFDFE0"/>
          </a:solidFill>
          <a:ln/>
        </p:spPr>
      </p:sp>
      <p:sp>
        <p:nvSpPr>
          <p:cNvPr id="2" name="Text 0"/>
          <p:cNvSpPr/>
          <p:nvPr/>
        </p:nvSpPr>
        <p:spPr>
          <a:xfrm>
            <a:off x="496119" y="267557"/>
            <a:ext cx="57626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Примери от реални продукти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77441" y="3358158"/>
            <a:ext cx="2534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🔴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Напитка с Е-номера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7441" y="366466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Беззахарна напитка с аспартам (Е951).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61412" y="3343554"/>
            <a:ext cx="24761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🟢</a:t>
            </a: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Натурален продукт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59891" y="3664669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ru-RU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Кисело</a:t>
            </a:r>
            <a:r>
              <a:rPr lang="ru-RU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1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мляко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кратък списък от естествени съставки — без открити вредни вещества.</a:t>
            </a:r>
            <a:endParaRPr lang="en-US" sz="11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71BCC9D-6CDD-672A-940D-68530C223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41" y="972079"/>
            <a:ext cx="3852450" cy="1843210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21577D17-06F6-DC12-D04E-F031B511647B}"/>
              </a:ext>
            </a:extLst>
          </p:cNvPr>
          <p:cNvSpPr/>
          <p:nvPr/>
        </p:nvSpPr>
        <p:spPr>
          <a:xfrm>
            <a:off x="4660553" y="710544"/>
            <a:ext cx="4205148" cy="2411479"/>
          </a:xfrm>
          <a:prstGeom prst="roundRect">
            <a:avLst>
              <a:gd name="adj" fmla="val 4166"/>
            </a:avLst>
          </a:prstGeom>
          <a:solidFill>
            <a:srgbClr val="DFDFE0"/>
          </a:solidFill>
          <a:ln/>
        </p:spPr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FA26B66-19F3-D40D-7BF7-A2B6CB7EA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412" y="946679"/>
            <a:ext cx="4010298" cy="1843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86804"/>
            <a:ext cx="368691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Статистика и обхват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05532" y="1053405"/>
            <a:ext cx="429860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15+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5213" y="1606079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Категории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5532" y="1865040"/>
            <a:ext cx="4298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Вредни вещества, разпознавани от приложението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11191" y="1053405"/>
            <a:ext cx="429867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670947" y="1606079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Е-номера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11191" y="1865040"/>
            <a:ext cx="429867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532" y="2330128"/>
            <a:ext cx="429860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65213" y="2882801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Езика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532" y="3141762"/>
            <a:ext cx="4298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Български и английски едновременно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11191" y="2330128"/>
            <a:ext cx="4298677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145MB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70947" y="2882801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Размер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1191" y="3141762"/>
            <a:ext cx="429867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 размер с всички зависимости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4132" y="3558332"/>
            <a:ext cx="23173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Изисквания за сървъра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132" y="3860676"/>
            <a:ext cx="3986585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GB RAM минимум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MB свободно дисково пространство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8046" y="3558332"/>
            <a:ext cx="21920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Структура на проекта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8046" y="3860676"/>
            <a:ext cx="3986585" cy="8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основен код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Python зависимости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packages.txt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системни зависимости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.python-version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Python 3.11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Изображения по запросу «Фон презентации» - бесплатно на gryzli.club">
            <a:extLst>
              <a:ext uri="{FF2B5EF4-FFF2-40B4-BE49-F238E27FC236}">
                <a16:creationId xmlns:a16="http://schemas.microsoft.com/office/drawing/2014/main" id="{124616A0-8D0A-A113-5CAC-16C4F28FA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45DAF5-AF8D-AA2A-255B-50254E02A08E}"/>
              </a:ext>
            </a:extLst>
          </p:cNvPr>
          <p:cNvSpPr txBox="1"/>
          <p:nvPr/>
        </p:nvSpPr>
        <p:spPr>
          <a:xfrm>
            <a:off x="513603" y="2156251"/>
            <a:ext cx="8116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/>
              <a:t>Благодаря за внимание !!!</a:t>
            </a:r>
          </a:p>
        </p:txBody>
      </p:sp>
      <p:sp>
        <p:nvSpPr>
          <p:cNvPr id="4" name="AutoShape 2" descr="Еда фон - векторные изображения, Еда фон картинки | DepositPhotos">
            <a:extLst>
              <a:ext uri="{FF2B5EF4-FFF2-40B4-BE49-F238E27FC236}">
                <a16:creationId xmlns:a16="http://schemas.microsoft.com/office/drawing/2014/main" id="{635EBD48-ACE4-45F8-096F-B6125F1F14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-602524"/>
            <a:ext cx="3326674" cy="3326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Бесшовный узор питания">
            <a:extLst>
              <a:ext uri="{FF2B5EF4-FFF2-40B4-BE49-F238E27FC236}">
                <a16:creationId xmlns:a16="http://schemas.microsoft.com/office/drawing/2014/main" id="{707932B3-5A1C-3D73-25D6-D7CD9C65F3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905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605</Words>
  <Application>Microsoft Office PowerPoint</Application>
  <PresentationFormat>Экран (16:9)</PresentationFormat>
  <Paragraphs>103</Paragraphs>
  <Slides>14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Inter</vt:lpstr>
      <vt:lpstr>Arial</vt:lpstr>
      <vt:lpstr>Consolas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Виктор  А.  Анистратенко</cp:lastModifiedBy>
  <cp:revision>3</cp:revision>
  <dcterms:created xsi:type="dcterms:W3CDTF">2026-05-18T13:32:08Z</dcterms:created>
  <dcterms:modified xsi:type="dcterms:W3CDTF">2026-05-21T17:29:05Z</dcterms:modified>
</cp:coreProperties>
</file>